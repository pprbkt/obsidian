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90"/>
  </p:notesMasterIdLst>
  <p:handoutMasterIdLst>
    <p:handoutMasterId r:id="rId91"/>
  </p:handoutMasterIdLst>
  <p:sldIdLst>
    <p:sldId id="256" r:id="rId2"/>
    <p:sldId id="276" r:id="rId3"/>
    <p:sldId id="277" r:id="rId4"/>
    <p:sldId id="278" r:id="rId5"/>
    <p:sldId id="279" r:id="rId6"/>
    <p:sldId id="280" r:id="rId7"/>
    <p:sldId id="257" r:id="rId8"/>
    <p:sldId id="258" r:id="rId9"/>
    <p:sldId id="378" r:id="rId10"/>
    <p:sldId id="379" r:id="rId11"/>
    <p:sldId id="380" r:id="rId12"/>
    <p:sldId id="381" r:id="rId13"/>
    <p:sldId id="351" r:id="rId14"/>
    <p:sldId id="281" r:id="rId15"/>
    <p:sldId id="282" r:id="rId16"/>
    <p:sldId id="283" r:id="rId17"/>
    <p:sldId id="285" r:id="rId18"/>
    <p:sldId id="286" r:id="rId19"/>
    <p:sldId id="287" r:id="rId20"/>
    <p:sldId id="259" r:id="rId21"/>
    <p:sldId id="310" r:id="rId22"/>
    <p:sldId id="288" r:id="rId23"/>
    <p:sldId id="260" r:id="rId24"/>
    <p:sldId id="289" r:id="rId25"/>
    <p:sldId id="311" r:id="rId26"/>
    <p:sldId id="261" r:id="rId27"/>
    <p:sldId id="353" r:id="rId28"/>
    <p:sldId id="302" r:id="rId29"/>
    <p:sldId id="269" r:id="rId30"/>
    <p:sldId id="382" r:id="rId31"/>
    <p:sldId id="303" r:id="rId32"/>
    <p:sldId id="357" r:id="rId33"/>
    <p:sldId id="333" r:id="rId34"/>
    <p:sldId id="304" r:id="rId35"/>
    <p:sldId id="270" r:id="rId36"/>
    <p:sldId id="340" r:id="rId37"/>
    <p:sldId id="335" r:id="rId38"/>
    <p:sldId id="336" r:id="rId39"/>
    <p:sldId id="345" r:id="rId40"/>
    <p:sldId id="383" r:id="rId41"/>
    <p:sldId id="384" r:id="rId42"/>
    <p:sldId id="385" r:id="rId43"/>
    <p:sldId id="386" r:id="rId44"/>
    <p:sldId id="387" r:id="rId45"/>
    <p:sldId id="346" r:id="rId46"/>
    <p:sldId id="398" r:id="rId47"/>
    <p:sldId id="395" r:id="rId48"/>
    <p:sldId id="396" r:id="rId49"/>
    <p:sldId id="397" r:id="rId50"/>
    <p:sldId id="358" r:id="rId51"/>
    <p:sldId id="365" r:id="rId52"/>
    <p:sldId id="366" r:id="rId53"/>
    <p:sldId id="367" r:id="rId54"/>
    <p:sldId id="368" r:id="rId55"/>
    <p:sldId id="369" r:id="rId56"/>
    <p:sldId id="370" r:id="rId57"/>
    <p:sldId id="371" r:id="rId58"/>
    <p:sldId id="372" r:id="rId59"/>
    <p:sldId id="373" r:id="rId60"/>
    <p:sldId id="374" r:id="rId61"/>
    <p:sldId id="375" r:id="rId62"/>
    <p:sldId id="376" r:id="rId63"/>
    <p:sldId id="377" r:id="rId64"/>
    <p:sldId id="388" r:id="rId65"/>
    <p:sldId id="389" r:id="rId66"/>
    <p:sldId id="390" r:id="rId67"/>
    <p:sldId id="391" r:id="rId68"/>
    <p:sldId id="392" r:id="rId69"/>
    <p:sldId id="393" r:id="rId70"/>
    <p:sldId id="394" r:id="rId71"/>
    <p:sldId id="356" r:id="rId72"/>
    <p:sldId id="295" r:id="rId73"/>
    <p:sldId id="296" r:id="rId74"/>
    <p:sldId id="297" r:id="rId75"/>
    <p:sldId id="298" r:id="rId76"/>
    <p:sldId id="299" r:id="rId77"/>
    <p:sldId id="355" r:id="rId78"/>
    <p:sldId id="347" r:id="rId79"/>
    <p:sldId id="348" r:id="rId80"/>
    <p:sldId id="274" r:id="rId81"/>
    <p:sldId id="399" r:id="rId82"/>
    <p:sldId id="349" r:id="rId83"/>
    <p:sldId id="350" r:id="rId84"/>
    <p:sldId id="275" r:id="rId85"/>
    <p:sldId id="352" r:id="rId86"/>
    <p:sldId id="354" r:id="rId87"/>
    <p:sldId id="400" r:id="rId88"/>
    <p:sldId id="309" r:id="rId89"/>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Objects="1">
      <p:cViewPr varScale="1">
        <p:scale>
          <a:sx n="85" d="100"/>
          <a:sy n="85" d="100"/>
        </p:scale>
        <p:origin x="1406" y="6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5/22/2025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5/22/2025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Requirements engineering processes</a:t>
            </a:r>
          </a:p>
          <a:p>
            <a:r>
              <a:rPr lang="en-US" dirty="0"/>
              <a:t>Requirements elicitation</a:t>
            </a:r>
            <a:endParaRPr lang="en-GB" dirty="0"/>
          </a:p>
          <a:p>
            <a:r>
              <a:rPr lang="en-US" dirty="0"/>
              <a:t>Requirements </a:t>
            </a:r>
            <a:r>
              <a:rPr lang="en-GB" dirty="0"/>
              <a:t>specification</a:t>
            </a:r>
          </a:p>
          <a:p>
            <a:r>
              <a:rPr lang="en-US" dirty="0"/>
              <a:t>Requirements validation</a:t>
            </a:r>
            <a:endParaRPr lang="en-GB" dirty="0"/>
          </a:p>
          <a:p>
            <a:r>
              <a:rPr lang="en-US" dirty="0"/>
              <a:t>Requirements change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a:t>
            </a:r>
            <a:r>
              <a:rPr lang="en-GB"/>
              <a:t>that a customer </a:t>
            </a:r>
            <a:r>
              <a:rPr lang="en-GB" dirty="0"/>
              <a:t>requires from a system and the constraints under which it operates and is developed.</a:t>
            </a:r>
          </a:p>
          <a:p>
            <a:r>
              <a:rPr lang="en-GB" dirty="0"/>
              <a:t>The system requirements are 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8" name="Footer Placeholder 7"/>
          <p:cNvSpPr>
            <a:spLocks noGrp="1"/>
          </p:cNvSpPr>
          <p:nvPr>
            <p:ph type="ftr" sz="quarter" idx="11"/>
          </p:nvPr>
        </p:nvSpPr>
        <p:spPr/>
        <p:txBody>
          <a:bodyPr/>
          <a:lstStyle/>
          <a:p>
            <a:pPr>
              <a:defRPr/>
            </a:pPr>
            <a:r>
              <a:rPr lang="en-US"/>
              <a:t>Chapter 4 Requirements Engineering</a:t>
            </a: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6" name="Rectangle 5"/>
          <p:cNvSpPr/>
          <p:nvPr/>
        </p:nvSpPr>
        <p:spPr>
          <a:xfrm>
            <a:off x="457200" y="1951673"/>
            <a:ext cx="8305800" cy="2862322"/>
          </a:xfrm>
          <a:prstGeom prst="rect">
            <a:avLst/>
          </a:prstGeom>
        </p:spPr>
        <p:txBody>
          <a:bodyPr wrap="square">
            <a:spAutoFit/>
          </a:bodyPr>
          <a:lstStyle/>
          <a:p>
            <a:r>
              <a:rPr lang="en-US" sz="2000" dirty="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r>
              <a:rPr lang="en-US" dirty="0"/>
              <a:t>Any person or organization who is affected by the system in some way and so who has a legitimate interest</a:t>
            </a:r>
          </a:p>
          <a:p>
            <a:r>
              <a:rPr lang="en-US" dirty="0"/>
              <a:t>Stakeholder types</a:t>
            </a:r>
          </a:p>
          <a:p>
            <a:pPr lvl="1"/>
            <a:r>
              <a:rPr lang="en-US" dirty="0"/>
              <a:t>End users</a:t>
            </a:r>
          </a:p>
          <a:p>
            <a:pPr lvl="1"/>
            <a:r>
              <a:rPr lang="en-US" dirty="0"/>
              <a:t>System managers</a:t>
            </a:r>
          </a:p>
          <a:p>
            <a:pPr lvl="1"/>
            <a:r>
              <a:rPr lang="en-US" dirty="0"/>
              <a:t>System owners</a:t>
            </a:r>
          </a:p>
          <a:p>
            <a:pPr lvl="1"/>
            <a:r>
              <a:rPr lang="en-US" dirty="0"/>
              <a:t>External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Patients</a:t>
            </a:r>
            <a:r>
              <a:rPr lang="en-US" i="1" dirty="0"/>
              <a:t> </a:t>
            </a:r>
            <a:r>
              <a:rPr lang="en-US" dirty="0"/>
              <a:t>whose information is recorded in the system.</a:t>
            </a:r>
            <a:endParaRPr lang="en-GB" dirty="0"/>
          </a:p>
          <a:p>
            <a:r>
              <a:rPr lang="en-US" dirty="0"/>
              <a:t>Doctors</a:t>
            </a:r>
            <a:r>
              <a:rPr lang="en-US" i="1" dirty="0"/>
              <a:t> </a:t>
            </a:r>
            <a:r>
              <a:rPr lang="en-US" dirty="0"/>
              <a:t>who are responsible for assessing and treating patients.</a:t>
            </a:r>
            <a:endParaRPr lang="en-GB" dirty="0"/>
          </a:p>
          <a:p>
            <a:r>
              <a:rPr lang="en-US" dirty="0"/>
              <a:t>Nurses who coordinate the consultations with doctors and administer some treatments.</a:t>
            </a:r>
            <a:endParaRPr lang="en-GB" dirty="0"/>
          </a:p>
          <a:p>
            <a:r>
              <a:rPr lang="en-US" dirty="0"/>
              <a:t>Medical receptionists</a:t>
            </a:r>
            <a:r>
              <a:rPr lang="en-US" i="1" dirty="0"/>
              <a:t> </a:t>
            </a:r>
            <a:r>
              <a:rPr lang="en-US" dirty="0"/>
              <a:t>who manage patients’ appointments.</a:t>
            </a:r>
            <a:endParaRPr lang="en-GB" dirty="0"/>
          </a:p>
          <a:p>
            <a:r>
              <a:rPr lang="en-US" dirty="0"/>
              <a:t>IT staff 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A medical ethics manager who must ensure that the system meets current ethical guidelines for patient care.</a:t>
            </a:r>
            <a:endParaRPr lang="en-GB" dirty="0"/>
          </a:p>
          <a:p>
            <a:r>
              <a:rPr lang="en-US" dirty="0"/>
              <a:t>Health care managers</a:t>
            </a:r>
            <a:r>
              <a:rPr lang="en-US" i="1" dirty="0"/>
              <a:t> </a:t>
            </a:r>
            <a:r>
              <a:rPr lang="en-US" dirty="0"/>
              <a:t>who obtain management information from the system.</a:t>
            </a:r>
            <a:endParaRPr lang="en-GB" dirty="0"/>
          </a:p>
          <a:p>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p:txBody>
          <a:bodyPr/>
          <a:lstStyle/>
          <a:p>
            <a:r>
              <a:rPr lang="en-US" dirty="0"/>
              <a:t>Many agile methods argue that producing detailed system requirements is a waste of time as requirements change so quickly.</a:t>
            </a:r>
          </a:p>
          <a:p>
            <a:r>
              <a:rPr lang="en-US" dirty="0"/>
              <a:t>The requirements document is therefore always out of date.</a:t>
            </a:r>
          </a:p>
          <a:p>
            <a:r>
              <a:rPr lang="en-US" dirty="0"/>
              <a:t>Agile methods usually use incremental requirements engineering and may express requirements as ‘user stories’ (discussed in Chapter 3).</a:t>
            </a:r>
          </a:p>
          <a:p>
            <a:r>
              <a:rPr lang="en-US" dirty="0"/>
              <a:t>This is practical for business systems but problematic for systems that require pre-delivery analysis (e.g. critical systems) or systems developed by several teams.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Mentcare system: functional requirements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 </a:t>
            </a:r>
            <a:endParaRPr lang="en-GB" dirty="0"/>
          </a:p>
          <a:p>
            <a:r>
              <a:rPr lang="en-US" dirty="0"/>
              <a:t>Each staff member using the system shall be uniquely identified by his or her 8-digit employee number.</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because of system and environmental complexity, it 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r>
              <a:rPr lang="en-US" dirty="0"/>
              <a:t>Non-functional requirements may affect the overall architecture of a system rather than the individual components. </a:t>
            </a:r>
          </a:p>
          <a:p>
            <a:pPr lvl="1"/>
            <a:r>
              <a:rPr lang="en-US" dirty="0"/>
              <a:t>For example, to ensure that performance requirements are met, you may have to organize the system to minimize communications between components.</a:t>
            </a:r>
            <a:endParaRPr lang="en-GB" dirty="0"/>
          </a:p>
          <a:p>
            <a:r>
              <a:rPr lang="en-US" dirty="0"/>
              <a:t>A single non-functional requirement, such as a security requirement, may generate a number of related functional requirements that define system services that are required. </a:t>
            </a:r>
          </a:p>
          <a:p>
            <a:pPr lvl="1"/>
            <a:r>
              <a:rPr lang="en-US" dirty="0"/>
              <a:t>It may also generate requirements that restrict existing requirements. </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Mentcare system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Mentcare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engineering processes</a:t>
            </a:r>
            <a:br>
              <a:rPr lang="en-US" dirty="0"/>
            </a:br>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a:p>
            <a:pPr>
              <a:lnSpc>
                <a:spcPct val="90000"/>
              </a:lnSpc>
            </a:pPr>
            <a:r>
              <a:rPr lang="en-GB" dirty="0"/>
              <a:t>In practice, RE is an iterative activity in which these processes are interleaved.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pic>
        <p:nvPicPr>
          <p:cNvPr id="4" name="Picture 3" descr="4.12 ReqEngSpiral.eps"/>
          <p:cNvPicPr>
            <a:picLocks noChangeAspect="1"/>
          </p:cNvPicPr>
          <p:nvPr/>
        </p:nvPicPr>
        <p:blipFill>
          <a:blip r:embed="rId2"/>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elicitation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4864"/>
            <a:ext cx="8229600" cy="1143000"/>
          </a:xfrm>
        </p:spPr>
        <p:txBody>
          <a:bodyPr/>
          <a:lstStyle/>
          <a:p>
            <a:pPr algn="ctr"/>
            <a:r>
              <a:rPr lang="en-US" dirty="0"/>
              <a:t>Requirements elicitation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569010017"/>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3" name="Content Placeholder 2"/>
          <p:cNvSpPr>
            <a:spLocks noGrp="1"/>
          </p:cNvSpPr>
          <p:nvPr>
            <p:ph idx="1"/>
          </p:nvPr>
        </p:nvSpPr>
        <p:spPr/>
        <p:txBody>
          <a:bodyPr/>
          <a:lstStyle/>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Stages include:</a:t>
            </a:r>
          </a:p>
          <a:p>
            <a:pPr lvl="1"/>
            <a:r>
              <a:rPr lang="en-US" dirty="0"/>
              <a:t>Requirements discovery,</a:t>
            </a:r>
          </a:p>
          <a:p>
            <a:pPr lvl="1"/>
            <a:r>
              <a:rPr lang="en-US" dirty="0"/>
              <a:t>Requirements classification and organization,</a:t>
            </a:r>
          </a:p>
          <a:p>
            <a:pPr lvl="1"/>
            <a:r>
              <a:rPr lang="en-US" dirty="0"/>
              <a:t>Requirements prioritization and negotiation,</a:t>
            </a:r>
          </a:p>
          <a:p>
            <a:pPr lvl="1"/>
            <a:r>
              <a:rPr lang="en-US" dirty="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r>
              <a:rPr lang="en-US" dirty="0"/>
              <a:t>The process of gathering information about the required and existing systems and distilling the user and system requirements from this information.</a:t>
            </a:r>
          </a:p>
          <a:p>
            <a:r>
              <a:rPr lang="en-US" dirty="0"/>
              <a:t>Interaction is with system stakeholders from managers to external regulators.</a:t>
            </a:r>
          </a:p>
          <a:p>
            <a:r>
              <a:rPr lang="en-US" dirty="0"/>
              <a:t>Systems normally have a range of stakeholders.</a:t>
            </a:r>
          </a:p>
        </p:txBody>
      </p:sp>
      <p:sp>
        <p:nvSpPr>
          <p:cNvPr id="4" name="Footer Placeholder 3"/>
          <p:cNvSpPr>
            <a:spLocks noGrp="1"/>
          </p:cNvSpPr>
          <p:nvPr>
            <p:ph type="ftr" sz="quarter" idx="11"/>
          </p:nvPr>
        </p:nvSpPr>
        <p:spPr/>
        <p:txBody>
          <a:bodyPr/>
          <a:lstStyle/>
          <a:p>
            <a:pPr>
              <a:defRPr/>
            </a:pPr>
            <a:r>
              <a:rPr lang="en-US" dirty="0"/>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dirty="0"/>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p>
          <a:p>
            <a:pPr>
              <a:lnSpc>
                <a:spcPct val="90000"/>
              </a:lnSpc>
            </a:pPr>
            <a:r>
              <a:rPr lang="en-US" dirty="0"/>
              <a:t>Interviewers need to be open-minded without pre-conceived ideas of what the system should do</a:t>
            </a:r>
          </a:p>
          <a:p>
            <a:pPr>
              <a:lnSpc>
                <a:spcPct val="90000"/>
              </a:lnSpc>
            </a:pPr>
            <a:r>
              <a:rPr lang="en-US" sz="2400" dirty="0"/>
              <a:t>You need to prompt the use to talk about the system by suggesting requirements rather than simply asking them what they want.</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p:txBody>
          <a:bodyPr/>
          <a:lstStyle/>
          <a:p>
            <a:pPr>
              <a:lnSpc>
                <a:spcPct val="90000"/>
              </a:lnSpc>
            </a:pPr>
            <a:r>
              <a:rPr lang="en-US" dirty="0"/>
              <a:t>Application specialists may use language to describe their work that isn’t easy for the requirements engineer to understand.</a:t>
            </a:r>
          </a:p>
          <a:p>
            <a:pPr>
              <a:lnSpc>
                <a:spcPct val="90000"/>
              </a:lnSpc>
            </a:pPr>
            <a:r>
              <a:rPr lang="en-US" dirty="0"/>
              <a:t>Interviews 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noFill/>
          <a:ln/>
        </p:spPr>
        <p:txBody>
          <a:bodyPr lIns="90487" tIns="44450" rIns="90487" bIns="44450"/>
          <a:lstStyle/>
          <a:p>
            <a:r>
              <a:rPr lang="en-GB" sz="2400" dirty="0"/>
              <a:t>A social scientist 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89149296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p>
          <a:p>
            <a:pPr lvl="1"/>
            <a:r>
              <a:rPr lang="en-GB" dirty="0"/>
              <a:t>Awareness of what other people are doing leads to changes in the ways in which we do things.</a:t>
            </a:r>
          </a:p>
          <a:p>
            <a:r>
              <a:rPr lang="en-GB" dirty="0"/>
              <a:t>Ethnography is effective for understanding existing processes but cannot identify new features that should be added to a system.</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7112353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a:t>Ethnography and prototyping for requirements analysis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pic>
        <p:nvPicPr>
          <p:cNvPr id="4" name="Picture 3" descr="4.16 Ethno-prototyping.eps"/>
          <p:cNvPicPr>
            <a:picLocks noChangeAspect="1"/>
          </p:cNvPicPr>
          <p:nvPr/>
        </p:nvPicPr>
        <p:blipFill>
          <a:blip r:embed="rId2"/>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Stories and scenarios</a:t>
            </a:r>
          </a:p>
        </p:txBody>
      </p:sp>
      <p:sp>
        <p:nvSpPr>
          <p:cNvPr id="90115" name="Rectangle 3"/>
          <p:cNvSpPr>
            <a:spLocks noGrp="1" noChangeArrowheads="1"/>
          </p:cNvSpPr>
          <p:nvPr>
            <p:ph idx="1"/>
          </p:nvPr>
        </p:nvSpPr>
        <p:spPr/>
        <p:txBody>
          <a:bodyPr/>
          <a:lstStyle/>
          <a:p>
            <a:r>
              <a:rPr lang="en-US" dirty="0"/>
              <a:t>Scenarios and user stories are real-life examples of how a system can be used.</a:t>
            </a:r>
          </a:p>
          <a:p>
            <a:r>
              <a:rPr lang="en-US" dirty="0"/>
              <a:t>Stories and scenarios are a description of how a system may be used for a particular task.</a:t>
            </a:r>
          </a:p>
          <a:p>
            <a:r>
              <a:rPr lang="en-US" dirty="0"/>
              <a:t>Because they are based on a practical situation, stakeholders can relate to them and can comment on their situation with respect to the story.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Photo sharing in the classroom (</a:t>
            </a:r>
            <a:r>
              <a:rPr lang="en-US" dirty="0" err="1"/>
              <a:t>iLearn</a:t>
            </a:r>
            <a:r>
              <a:rPr lang="en-US" dirty="0"/>
              <a:t>)</a:t>
            </a:r>
          </a:p>
        </p:txBody>
      </p:sp>
      <p:sp>
        <p:nvSpPr>
          <p:cNvPr id="3" name="Content Placeholder 2"/>
          <p:cNvSpPr>
            <a:spLocks noGrp="1"/>
          </p:cNvSpPr>
          <p:nvPr>
            <p:ph idx="1"/>
          </p:nvPr>
        </p:nvSpPr>
        <p:spPr/>
        <p:txBody>
          <a:bodyPr/>
          <a:lstStyle/>
          <a:p>
            <a:r>
              <a:rPr lang="en-GB" sz="160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600" dirty="0" err="1"/>
              <a:t>iLearn</a:t>
            </a:r>
            <a:r>
              <a:rPr lang="en-GB" sz="160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families.</a:t>
            </a:r>
            <a:br>
              <a:rPr lang="en-GB" sz="1600" dirty="0"/>
            </a:br>
            <a:br>
              <a:rPr lang="en-GB" sz="1600" dirty="0"/>
            </a:br>
            <a:r>
              <a:rPr lang="en-GB" sz="1600" dirty="0"/>
              <a:t>Jack sends an email to a primary school teachers group, which he is a member of to see if anyone can recommend an appropriate system. Two teachers reply and both suggest that he uses </a:t>
            </a:r>
            <a:r>
              <a:rPr lang="en-GB" sz="1600" dirty="0" err="1"/>
              <a:t>KidsTakePics</a:t>
            </a:r>
            <a:r>
              <a:rPr lang="en-GB" sz="1600" dirty="0"/>
              <a:t>, a photo sharing site that allows teachers to check and moderate content. As </a:t>
            </a:r>
            <a:r>
              <a:rPr lang="en-GB" sz="1600" dirty="0" err="1"/>
              <a:t>KidsTakePics</a:t>
            </a:r>
            <a:r>
              <a:rPr lang="en-GB" sz="1600" dirty="0"/>
              <a:t> is not integrated with the </a:t>
            </a:r>
            <a:r>
              <a:rPr lang="en-GB" sz="1600" dirty="0" err="1"/>
              <a:t>iLearn</a:t>
            </a:r>
            <a:r>
              <a:rPr lang="en-GB" sz="1600" dirty="0"/>
              <a:t> authentication service, he sets up a teacher and a class account. He uses the </a:t>
            </a:r>
            <a:r>
              <a:rPr lang="en-GB" sz="1600" dirty="0" err="1"/>
              <a:t>iLearn</a:t>
            </a:r>
            <a:r>
              <a:rPr lang="en-GB" sz="1600" dirty="0"/>
              <a:t> setup service to add </a:t>
            </a:r>
            <a:r>
              <a:rPr lang="en-GB" sz="1600" dirty="0" err="1"/>
              <a:t>KidsTakePics</a:t>
            </a:r>
            <a:r>
              <a:rPr lang="en-GB" sz="1600" dirty="0"/>
              <a:t> to the services seen by the pupils in his class so that when they log in, they can immediately use the system to upload photos from their mobile devices and class computers.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672866641"/>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lstStyle/>
          <a:p>
            <a:r>
              <a:rPr lang="en-US" dirty="0"/>
              <a:t>A structured form of user story</a:t>
            </a:r>
          </a:p>
          <a:p>
            <a:r>
              <a:rPr lang="en-US" dirty="0"/>
              <a:t>Scenarios should 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 </a:t>
            </a:r>
            <a:r>
              <a:rPr lang="en-US" dirty="0" err="1"/>
              <a:t>iLearn</a:t>
            </a:r>
            <a:r>
              <a:rPr lang="en-US" dirty="0"/>
              <a:t>)</a:t>
            </a:r>
          </a:p>
        </p:txBody>
      </p:sp>
      <p:sp>
        <p:nvSpPr>
          <p:cNvPr id="3" name="Content Placeholder 2"/>
          <p:cNvSpPr>
            <a:spLocks noGrp="1"/>
          </p:cNvSpPr>
          <p:nvPr>
            <p:ph idx="1"/>
          </p:nvPr>
        </p:nvSpPr>
        <p:spPr/>
        <p:txBody>
          <a:bodyPr/>
          <a:lstStyle/>
          <a:p>
            <a:r>
              <a:rPr lang="en-US" sz="1600" b="1" dirty="0"/>
              <a:t>Initial assumption</a:t>
            </a:r>
            <a:r>
              <a:rPr lang="en-US" sz="1600" dirty="0"/>
              <a:t>: A user or a group of users have one or more digital photographs to be uploaded to the picture sharing site. These are saved on either a tablet or laptop computer. They have successfully logged on to </a:t>
            </a:r>
            <a:r>
              <a:rPr lang="en-US" sz="1600" dirty="0" err="1"/>
              <a:t>KidsTakePics</a:t>
            </a:r>
            <a:r>
              <a:rPr lang="en-US" sz="1600" dirty="0"/>
              <a:t>.</a:t>
            </a:r>
          </a:p>
          <a:p>
            <a:r>
              <a:rPr lang="en-US" sz="1600" b="1" dirty="0"/>
              <a:t>Normal</a:t>
            </a:r>
            <a:r>
              <a:rPr lang="en-US" sz="1600" dirty="0"/>
              <a:t>:  The user chooses upload photos and they are prompted to select the photos to be uploaded on their computer and to select the project name under which the photos will be stored. They should also be given the option of inputting keywords that should be associated with each uploaded photo. Uploaded photos are named by creating a conjunction of the user name with the filename of the photo on the local computer.</a:t>
            </a:r>
          </a:p>
          <a:p>
            <a:r>
              <a:rPr lang="en-US" sz="1600" dirty="0"/>
              <a:t>On completion of the upload, the system automatically sends an email to the project moderator asking them to check new content and generates an on-screen message to the user that this has been done. </a:t>
            </a:r>
          </a:p>
          <a:p>
            <a:endParaRPr lang="en-US" sz="14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054705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a:t>
            </a:r>
          </a:p>
        </p:txBody>
      </p:sp>
      <p:sp>
        <p:nvSpPr>
          <p:cNvPr id="3" name="Content Placeholder 2"/>
          <p:cNvSpPr>
            <a:spLocks noGrp="1"/>
          </p:cNvSpPr>
          <p:nvPr>
            <p:ph idx="1"/>
          </p:nvPr>
        </p:nvSpPr>
        <p:spPr/>
        <p:txBody>
          <a:bodyPr/>
          <a:lstStyle/>
          <a:p>
            <a:r>
              <a:rPr lang="en-US" sz="1600" b="1" dirty="0"/>
              <a:t>What can go wrong</a:t>
            </a:r>
            <a:r>
              <a:rPr lang="en-US" sz="1600" dirty="0"/>
              <a:t>: </a:t>
            </a:r>
          </a:p>
          <a:p>
            <a:r>
              <a:rPr lang="en-US" sz="1600" dirty="0"/>
              <a:t>No moderator is associated with the selected project. An email is automatically generated to the school administrator asking them to nominate a project moderator. Users should be informed that there could be a delay in making their photos visible.</a:t>
            </a:r>
          </a:p>
          <a:p>
            <a:r>
              <a:rPr lang="en-US" sz="1600" dirty="0"/>
              <a:t>Photos with the same name have already been uploaded by the same user.  The user should be asked if they wish to re-upload the photos with the same name, rename the photos or cancel the upload. If they chose to re-upload the photos, the originals are overwritten. If they chose to rename the photos, a new name is automatically generated by adding a number to the existing file name.</a:t>
            </a:r>
          </a:p>
          <a:p>
            <a:r>
              <a:rPr lang="en-US" sz="1600" b="1" dirty="0"/>
              <a:t>Other activities:  </a:t>
            </a:r>
            <a:r>
              <a:rPr lang="en-US" sz="1600" dirty="0"/>
              <a:t>The moderator may be logged on to the system and may approve photos as they are uploaded.</a:t>
            </a:r>
          </a:p>
          <a:p>
            <a:r>
              <a:rPr lang="en-US" sz="1600" b="1" dirty="0"/>
              <a:t>System state on completion</a:t>
            </a:r>
            <a:r>
              <a:rPr lang="en-US" sz="1600" dirty="0"/>
              <a:t>: User is logged on. The selected photos have been uploaded and assigned a status ‘awaiting moderation’.  Photos are visible to the moderator and to the user who uploaded them.</a:t>
            </a:r>
          </a:p>
          <a:p>
            <a:endParaRPr lang="en-US" sz="1600"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70165613"/>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specification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down the user and system requirements in a requirements document.</a:t>
            </a:r>
          </a:p>
          <a:p>
            <a:r>
              <a:rPr lang="en-US" dirty="0"/>
              <a:t>User requirements have to be understandable by end-users and customers who do not have a technical background.</a:t>
            </a:r>
          </a:p>
          <a:p>
            <a:r>
              <a:rPr lang="en-US" dirty="0"/>
              <a:t>System requirements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48719977"/>
              </p:ext>
            </p:extLst>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Tree>
    <p:extLst>
      <p:ext uri="{BB962C8B-B14F-4D97-AF65-F5344CB8AC3E}">
        <p14:creationId xmlns:p14="http://schemas.microsoft.com/office/powerpoint/2010/main" val="242320685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name="Document" r:id="rId2" imgW="5943600" imgH="3314700" progId="Word.Document.12">
                  <p:embed/>
                </p:oleObj>
              </mc:Choice>
              <mc:Fallback>
                <p:oleObj name="Document" r:id="rId2" imgW="5943600" imgH="3314700" progId="Word.Document.12">
                  <p:embed/>
                  <p:pic>
                    <p:nvPicPr>
                      <p:cNvPr id="276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name="Document" r:id="rId2" imgW="5943600" imgH="4445000" progId="Word.Document.12">
                  <p:embed/>
                </p:oleObj>
              </mc:Choice>
              <mc:Fallback>
                <p:oleObj name="Document" r:id="rId2" imgW="5943600" imgH="4445000" progId="Word.Document.12">
                  <p:embed/>
                  <p:pic>
                    <p:nvPicPr>
                      <p:cNvPr id="276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p>
          <a:p>
            <a:r>
              <a:rPr lang="en-US" dirty="0"/>
              <a:t>For example, the insulin pump systems bases its computations on the rate of change of blood sugar level and the tabular specification explains how to calculate the insulin requirement for different scenarios.</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a:t>Tabular specification of computation for an insulin pump</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dirty="0"/>
              <a:t>Use cases</a:t>
            </a:r>
          </a:p>
        </p:txBody>
      </p:sp>
      <p:sp>
        <p:nvSpPr>
          <p:cNvPr id="48131" name="Rectangle 3"/>
          <p:cNvSpPr>
            <a:spLocks noGrp="1" noChangeArrowheads="1"/>
          </p:cNvSpPr>
          <p:nvPr>
            <p:ph idx="1"/>
          </p:nvPr>
        </p:nvSpPr>
        <p:spPr/>
        <p:txBody>
          <a:bodyPr/>
          <a:lstStyle/>
          <a:p>
            <a:r>
              <a:rPr lang="en-GB" dirty="0"/>
              <a:t>Use-cases are a kind of scenario that are included in the UML. </a:t>
            </a:r>
          </a:p>
          <a:p>
            <a:r>
              <a:rPr lang="en-GB" dirty="0"/>
              <a:t>Use cases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 (see Chapter 5).</a:t>
            </a:r>
          </a:p>
          <a:p>
            <a:r>
              <a:rPr lang="en-GB" dirty="0"/>
              <a:t>UML sequence 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idx="1"/>
          </p:nvPr>
        </p:nvSpPr>
        <p:spPr>
          <a:noFill/>
          <a:ln/>
        </p:spPr>
        <p:txBody>
          <a:bodyPr lIns="90487" tIns="44450" rIns="90487" bIns="44450"/>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604491601"/>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r>
              <a:rPr lang="en-US" dirty="0"/>
              <a:t>Information in requirements document depends on type of system and the approach to development used.</a:t>
            </a:r>
          </a:p>
          <a:p>
            <a:r>
              <a:rPr lang="en-US" dirty="0"/>
              <a:t>Systems developed incrementally will, typically, have less detail in the requirements document.</a:t>
            </a:r>
          </a:p>
          <a:p>
            <a:r>
              <a:rPr lang="en-US" dirty="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a:t>Requirements validation</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dirty="0"/>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dirty="0"/>
              <a:t>Concerned with demonstrating that the requirements define the system that the customer really wants.</a:t>
            </a:r>
          </a:p>
          <a:p>
            <a:r>
              <a:rPr lang="en-GB" dirty="0"/>
              <a:t>Requirements error costs are high so validation is very important</a:t>
            </a:r>
          </a:p>
          <a:p>
            <a:pPr lvl="1"/>
            <a:r>
              <a:rPr lang="en-GB" dirty="0"/>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dirty="0"/>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 Does the system provide the functions which best support the customer’s needs?</a:t>
            </a:r>
          </a:p>
          <a:p>
            <a:r>
              <a:rPr lang="en-GB" sz="2400" dirty="0">
                <a:solidFill>
                  <a:srgbClr val="000000"/>
                </a:solidFill>
              </a:rPr>
              <a:t>Consistency. Are there any requirements conflicts?</a:t>
            </a:r>
          </a:p>
          <a:p>
            <a:r>
              <a:rPr lang="en-GB" sz="2400" dirty="0">
                <a:solidFill>
                  <a:srgbClr val="000000"/>
                </a:solidFill>
              </a:rPr>
              <a:t>Completeness. Are all functions required by the customer included?</a:t>
            </a:r>
          </a:p>
          <a:p>
            <a:r>
              <a:rPr lang="en-GB" sz="2400" dirty="0">
                <a:solidFill>
                  <a:srgbClr val="000000"/>
                </a:solidFill>
              </a:rPr>
              <a:t>Realism. Can 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dirty="0"/>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 2.</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dirty="0"/>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dirty="0"/>
              <a:t>Regular reviews should be held while the requirements definition is being formulated.</a:t>
            </a:r>
          </a:p>
          <a:p>
            <a:r>
              <a:rPr lang="en-GB" dirty="0"/>
              <a:t>Both client and contractor staff should be involved in reviews.</a:t>
            </a:r>
          </a:p>
          <a:p>
            <a:r>
              <a:rPr lang="en-GB" dirty="0"/>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dirty="0"/>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change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304800" y="1524000"/>
            <a:ext cx="8686800" cy="4525963"/>
          </a:xfrm>
        </p:spPr>
        <p:txBody>
          <a:bodyPr/>
          <a:lstStyle/>
          <a:p>
            <a:r>
              <a:rPr lang="en-US" dirty="0"/>
              <a:t>Establishes the level of requirements management detail that is required.</a:t>
            </a:r>
          </a:p>
          <a:p>
            <a:r>
              <a:rPr lang="en-US" dirty="0"/>
              <a:t>Requirements management decisions:</a:t>
            </a:r>
          </a:p>
          <a:p>
            <a:pPr lvl="1"/>
            <a:r>
              <a:rPr lang="en-US" i="1" dirty="0">
                <a:solidFill>
                  <a:schemeClr val="tx1"/>
                </a:solidFill>
              </a:rPr>
              <a:t>Requirements identificati</a:t>
            </a:r>
            <a:r>
              <a:rPr lang="en-US" i="1" dirty="0">
                <a:solidFill>
                  <a:srgbClr val="000000"/>
                </a:solidFill>
              </a:rPr>
              <a:t>on</a:t>
            </a:r>
            <a:r>
              <a:rPr lang="en-US" dirty="0">
                <a:solidFill>
                  <a:srgbClr val="FF0000"/>
                </a:solidFill>
              </a:rPr>
              <a:t> </a:t>
            </a:r>
            <a:r>
              <a:rPr lang="en-US" dirty="0"/>
              <a:t>Each requirement must be uniquely identified so that it can be cross-referenced with other requirements. </a:t>
            </a:r>
            <a:endParaRPr lang="en-GB" dirty="0"/>
          </a:p>
          <a:p>
            <a:pPr lvl="1"/>
            <a:r>
              <a:rPr lang="en-US" i="1" dirty="0">
                <a:solidFill>
                  <a:srgbClr val="000000"/>
                </a:solidFill>
              </a:rPr>
              <a:t>A change management process</a:t>
            </a:r>
            <a:r>
              <a:rPr lang="en-US" dirty="0">
                <a:solidFill>
                  <a:srgbClr val="000000"/>
                </a:solidFill>
              </a:rPr>
              <a:t> </a:t>
            </a:r>
            <a:r>
              <a:rPr lang="en-US" dirty="0"/>
              <a:t>This is the set of activities that assess the impact and cost of changes. </a:t>
            </a:r>
          </a:p>
          <a:p>
            <a:pPr lvl="1"/>
            <a:r>
              <a:rPr lang="en-US" i="1" dirty="0">
                <a:solidFill>
                  <a:srgbClr val="000000"/>
                </a:solidFill>
              </a:rPr>
              <a:t>Traceability policies</a:t>
            </a:r>
            <a:r>
              <a:rPr lang="en-US" dirty="0">
                <a:solidFill>
                  <a:srgbClr val="000000"/>
                </a:solidFill>
              </a:rPr>
              <a:t> </a:t>
            </a:r>
            <a:r>
              <a:rPr lang="en-US" dirty="0"/>
              <a:t>These policies define the relationships between each requirement and between the requirements and the system design that should be recorded. </a:t>
            </a:r>
            <a:endParaRPr lang="en-GB" dirty="0"/>
          </a:p>
          <a:p>
            <a:pPr lvl="1"/>
            <a:r>
              <a:rPr lang="en-US" i="1" dirty="0">
                <a:solidFill>
                  <a:srgbClr val="000000"/>
                </a:solidFill>
              </a:rPr>
              <a:t>Tool support</a:t>
            </a:r>
            <a:r>
              <a:rPr lang="en-US" dirty="0">
                <a:solidFill>
                  <a:srgbClr val="000000"/>
                </a:solidFill>
              </a:rPr>
              <a:t> </a:t>
            </a:r>
            <a:r>
              <a:rPr lang="en-US" dirty="0"/>
              <a:t>Tools that may be used range from specialist requirements management systems to spreadsheets and simple database systems.</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p:txBody>
          <a:bodyPr/>
          <a:lstStyle/>
          <a:p>
            <a:r>
              <a:rPr lang="en-US" dirty="0">
                <a:solidFill>
                  <a:srgbClr val="000000"/>
                </a:solidFill>
              </a:rPr>
              <a:t>Deciding if a requirements change should be accepted</a:t>
            </a:r>
          </a:p>
          <a:p>
            <a:pPr lvl="1"/>
            <a:r>
              <a:rPr lang="en-US" i="1" dirty="0">
                <a:solidFill>
                  <a:srgbClr val="000000"/>
                </a:solidFill>
              </a:rPr>
              <a:t>Problem analysis and change specification</a:t>
            </a:r>
            <a:r>
              <a:rPr lang="en-US" dirty="0">
                <a:solidFill>
                  <a:srgbClr val="000000"/>
                </a:solidFill>
              </a:rPr>
              <a:t> </a:t>
            </a:r>
          </a:p>
          <a:p>
            <a:pPr lvl="2"/>
            <a:r>
              <a:rPr lang="en-US" dirty="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a:solidFill>
                <a:srgbClr val="000000"/>
              </a:solidFill>
            </a:endParaRPr>
          </a:p>
          <a:p>
            <a:pPr lvl="1"/>
            <a:r>
              <a:rPr lang="en-US" i="1" dirty="0">
                <a:solidFill>
                  <a:srgbClr val="000000"/>
                </a:solidFill>
              </a:rPr>
              <a:t>Change analysis and costing</a:t>
            </a:r>
            <a:r>
              <a:rPr lang="en-US" dirty="0">
                <a:solidFill>
                  <a:srgbClr val="000000"/>
                </a:solidFill>
              </a:rPr>
              <a:t> </a:t>
            </a:r>
          </a:p>
          <a:p>
            <a:pPr lvl="2"/>
            <a:r>
              <a:rPr lang="en-US" dirty="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a:solidFill>
                <a:srgbClr val="000000"/>
              </a:solidFill>
            </a:endParaRPr>
          </a:p>
          <a:p>
            <a:pPr lvl="1"/>
            <a:r>
              <a:rPr lang="en-US" dirty="0">
                <a:solidFill>
                  <a:srgbClr val="000000"/>
                </a:solidFill>
              </a:rPr>
              <a:t>Change implementation </a:t>
            </a:r>
          </a:p>
          <a:p>
            <a:pPr lvl="2"/>
            <a:r>
              <a:rPr lang="en-US" dirty="0">
                <a:solidFill>
                  <a:srgbClr val="000000"/>
                </a:solidFill>
              </a:rPr>
              <a:t>The requirements document and, where necessary, the system design and implementation, are modified. Ideally, the document should be organized so that changes can be easily implemented.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requirements engineering process is an iterative process that includes requirements elicitation, specification and validation.</a:t>
            </a:r>
            <a:endParaRPr lang="en-GB" dirty="0"/>
          </a:p>
          <a:p>
            <a:r>
              <a:rPr lang="en-US" dirty="0"/>
              <a:t>Requirements elicitation is an iterative process that can be represented as a spiral of activities – requirements discovery, requirements classification and organization, requirements negotiation and requirements documentation.</a:t>
            </a:r>
            <a:r>
              <a:rPr lang="en-GB" dirty="0"/>
              <a:t> </a:t>
            </a:r>
          </a:p>
          <a:p>
            <a:r>
              <a:rPr lang="en-US" dirty="0"/>
              <a:t>You can use a range of techniques for requirements elicitation including interviews and ethnography. User stories and scenarios may be used to facilitate discussions.</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specification is the process of formally documenting the user and system requirements and creating a software requirements document.</a:t>
            </a:r>
          </a:p>
          <a:p>
            <a:r>
              <a:rPr lang="en-US" dirty="0"/>
              <a:t>The software requirements document is an agreed statement of the system requirements. It should be organized so that both system customers and software developers can use it.</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endParaRPr lang="en-US" dirty="0"/>
          </a:p>
        </p:txBody>
      </p:sp>
      <p:sp>
        <p:nvSpPr>
          <p:cNvPr id="3" name="Content Placeholder 2"/>
          <p:cNvSpPr>
            <a:spLocks noGrp="1"/>
          </p:cNvSpPr>
          <p:nvPr>
            <p:ph idx="1"/>
          </p:nvPr>
        </p:nvSpPr>
        <p:spPr/>
        <p:txBody>
          <a:bodyPr/>
          <a:lstStyle/>
          <a:p>
            <a:r>
              <a:rPr lang="en-US" dirty="0"/>
              <a:t>Requirements validation is the process of checking the requirements for validity, consistency, completeness, realism and verifiability. </a:t>
            </a:r>
            <a:endParaRPr lang="en-GB" dirty="0"/>
          </a:p>
          <a:p>
            <a:r>
              <a:rPr lang="en-US" dirty="0"/>
              <a:t>Business, organizational and technical changes inevitably lead to changes to the requirements for a software system. Requirements management is the process of managing and controlling these changes.</a:t>
            </a:r>
          </a:p>
          <a:p>
            <a:endParaRPr lang="en-US" dirty="0"/>
          </a:p>
          <a:p>
            <a:pPr marL="0" indent="0">
              <a:buNone/>
            </a:pPr>
            <a:endParaRPr lang="en-GB" dirty="0"/>
          </a:p>
          <a:p>
            <a:endParaRPr lang="en-US" dirty="0"/>
          </a:p>
        </p:txBody>
      </p:sp>
      <p:sp>
        <p:nvSpPr>
          <p:cNvPr id="5" name="Footer Placeholder 4"/>
          <p:cNvSpPr>
            <a:spLocks noGrp="1"/>
          </p:cNvSpPr>
          <p:nvPr>
            <p:ph type="ftr" sz="quarter" idx="11"/>
          </p:nvPr>
        </p:nvSpPr>
        <p:spPr/>
        <p:txBody>
          <a:bodyPr/>
          <a:lstStyle/>
          <a:p>
            <a:r>
              <a:rPr lang="en-US"/>
              <a:t>Chapter 4 Requirements Engineering</a:t>
            </a:r>
          </a:p>
        </p:txBody>
      </p:sp>
      <p:sp>
        <p:nvSpPr>
          <p:cNvPr id="4" name="Slide Number Placeholder 3"/>
          <p:cNvSpPr>
            <a:spLocks noGrp="1"/>
          </p:cNvSpPr>
          <p:nvPr>
            <p:ph type="sldNum" sz="quarter" idx="12"/>
          </p:nvPr>
        </p:nvSpPr>
        <p:spPr/>
        <p:txBody>
          <a:bodyPr/>
          <a:lstStyle/>
          <a:p>
            <a:fld id="{825F70CE-84E9-D04C-9B15-10C693AA0F2A}" type="slidenum">
              <a:rPr lang="en-US" smtClean="0"/>
              <a:pPr/>
              <a:t>88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9673</TotalTime>
  <Words>6013</Words>
  <Application>Microsoft Office PowerPoint</Application>
  <PresentationFormat>On-screen Show (4:3)</PresentationFormat>
  <Paragraphs>701</Paragraphs>
  <Slides>88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4" baseType="lpstr">
      <vt:lpstr>Arial</vt:lpstr>
      <vt:lpstr>Calibri</vt:lpstr>
      <vt:lpstr>Wingdings</vt:lpstr>
      <vt:lpstr>Zapf Dingbats</vt:lpstr>
      <vt:lpstr>SE10 slides</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Goals and requirements</vt:lpstr>
      <vt:lpstr>Usability requirements</vt:lpstr>
      <vt:lpstr>Metrics for specifying nonfunctional requirements</vt:lpstr>
      <vt:lpstr>Requirements engineering processes </vt:lpstr>
      <vt:lpstr>Requirements engineering processes</vt:lpstr>
      <vt:lpstr>A spiral view of the requirements engineering process </vt:lpstr>
      <vt:lpstr>Requirements elicitation</vt:lpstr>
      <vt:lpstr>Requirements elicitation and analysis</vt:lpstr>
      <vt:lpstr>Requirements elicitation</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Ethnography</vt:lpstr>
      <vt:lpstr>Scope of ethnography</vt:lpstr>
      <vt:lpstr>Focused ethnography</vt:lpstr>
      <vt:lpstr>Ethnography and prototyping for requirements analysis </vt:lpstr>
      <vt:lpstr>Stories and scenarios</vt:lpstr>
      <vt:lpstr>Photo sharing in the classroom (iLearn)</vt:lpstr>
      <vt:lpstr>Scenarios</vt:lpstr>
      <vt:lpstr>Uploading photos iLearn)</vt:lpstr>
      <vt:lpstr>Uploading photos</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Harshith V</cp:lastModifiedBy>
  <cp:revision>35</cp:revision>
  <cp:lastPrinted>2010-01-11T10:54:43Z</cp:lastPrinted>
  <dcterms:created xsi:type="dcterms:W3CDTF">2010-01-08T19:43:52Z</dcterms:created>
  <dcterms:modified xsi:type="dcterms:W3CDTF">2025-05-22T16:22:12Z</dcterms:modified>
</cp:coreProperties>
</file>